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0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45920" cy="36576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984738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5960" y="9601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0C0D8"/>
                </a:solidFill>
                <a:latin typeface="Inter"/>
              </a:rPr>
              <a:t>GUIDEWIRE DEVTRAILS 2026   ·   PHASE 3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Inter"/>
              </a:rPr>
              <a:t>Gig</a:t>
            </a:r>
            <a:r>
              <a:rPr sz="7200" b="1" i="0">
                <a:solidFill>
                  <a:srgbClr val="F26522"/>
                </a:solidFill>
                <a:latin typeface="Inter"/>
              </a:rPr>
              <a:t>Shield</a:t>
            </a:r>
            <a:r>
              <a:rPr sz="7200" b="1" i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0E8F2"/>
                </a:solidFill>
                <a:latin typeface="Inter"/>
              </a:rPr>
              <a:t>AI-powered parametric income protection for India's 7.7 million gig workers — zero paperwork, sub-10-minute payout, real Razorpay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04004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Parametric Insurance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4572000"/>
            <a:ext cx="1458468" cy="256032"/>
          </a:xfrm>
          <a:prstGeom prst="roundRect">
            <a:avLst>
              <a:gd name="adj" fmla="val 50000"/>
            </a:avLst>
          </a:prstGeom>
          <a:solidFill>
            <a:srgbClr val="1A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4604004"/>
            <a:ext cx="14584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BAS Anti-Spoofing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4508" y="4572000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1A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508" y="460400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OpenAI GPT-5.4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1244" y="4572000"/>
            <a:ext cx="1458468" cy="256032"/>
          </a:xfrm>
          <a:prstGeom prst="roundRect">
            <a:avLst>
              <a:gd name="adj" fmla="val 50000"/>
            </a:avLst>
          </a:prstGeom>
          <a:solidFill>
            <a:srgbClr val="1A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1244" y="4604004"/>
            <a:ext cx="14584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Live Razorpay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31152" y="4572000"/>
            <a:ext cx="1613916" cy="256032"/>
          </a:xfrm>
          <a:prstGeom prst="roundRect">
            <a:avLst>
              <a:gd name="adj" fmla="val 50000"/>
            </a:avLst>
          </a:prstGeom>
          <a:solidFill>
            <a:srgbClr val="1A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4604004"/>
            <a:ext cx="16139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11 Indian Languages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36508" y="4572000"/>
            <a:ext cx="1536192" cy="256032"/>
          </a:xfrm>
          <a:prstGeom prst="roundRect">
            <a:avLst>
              <a:gd name="adj" fmla="val 50000"/>
            </a:avLst>
          </a:prstGeom>
          <a:solidFill>
            <a:srgbClr val="1A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6508" y="4604004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Server-Sent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10698480" cy="18288"/>
          </a:xfrm>
          <a:prstGeom prst="rect">
            <a:avLst/>
          </a:prstGeom>
          <a:solidFill>
            <a:srgbClr val="446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A0C0"/>
                </a:solidFill>
                <a:latin typeface="Inter"/>
              </a:rPr>
              <a:t>TEAM</a:t>
            </a:r>
            <a:r>
              <a:rPr sz="1200" b="1" i="0">
                <a:solidFill>
                  <a:srgbClr val="FFFFFF"/>
                </a:solidFill>
                <a:latin typeface="Inter"/>
              </a:rPr>
              <a:t>   Team Void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/>
            </a:r>
            <a:r>
              <a:rPr sz="900" b="1" i="0">
                <a:solidFill>
                  <a:srgbClr val="8AA0C0"/>
                </a:solidFill>
                <a:latin typeface="Inter"/>
              </a:rPr>
              <a:t>LIVE</a:t>
            </a:r>
            <a:r>
              <a:rPr sz="1200" b="1" i="0">
                <a:solidFill>
                  <a:srgbClr val="FFFFFF"/>
                </a:solidFill>
                <a:latin typeface="Inter"/>
              </a:rPr>
              <a:t>   gigshield.in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/>
            </a:r>
            <a:r>
              <a:rPr sz="900" b="1" i="0">
                <a:solidFill>
                  <a:srgbClr val="8AA0C0"/>
                </a:solidFill>
                <a:latin typeface="Inter"/>
              </a:rPr>
              <a:t>VIDEO</a:t>
            </a:r>
            <a:r>
              <a:rPr sz="1200" b="1" i="0">
                <a:solidFill>
                  <a:srgbClr val="FFFFFF"/>
                </a:solidFill>
                <a:latin typeface="Inter"/>
              </a:rPr>
              <a:t>   youtu.be/bx8AVAU_amk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607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A0C0"/>
                </a:solidFill>
                <a:latin typeface="Inter"/>
              </a:rPr>
              <a:t>SUBMISSION</a:t>
            </a:r>
            <a:r>
              <a:rPr sz="1200" b="1" i="0">
                <a:solidFill>
                  <a:srgbClr val="FFFFFF"/>
                </a:solidFill>
                <a:latin typeface="Inter"/>
              </a:rPr>
              <a:t>   April 18, 2026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/>
            </a:r>
            <a:r>
              <a:rPr sz="900" b="1" i="0">
                <a:solidFill>
                  <a:srgbClr val="8AA0C0"/>
                </a:solidFill>
                <a:latin typeface="Inter"/>
              </a:rPr>
              <a:t>DEPLOYED</a:t>
            </a:r>
            <a:r>
              <a:rPr sz="1200" b="1" i="0">
                <a:solidFill>
                  <a:srgbClr val="FFFFFF"/>
                </a:solidFill>
                <a:latin typeface="Inter"/>
              </a:rPr>
              <a:t>   Hostinger + Cloudflare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/>
            </a:r>
            <a:r>
              <a:rPr sz="900" b="1" i="0">
                <a:solidFill>
                  <a:srgbClr val="8AA0C0"/>
                </a:solidFill>
                <a:latin typeface="Inter"/>
              </a:rPr>
              <a:t>REPO</a:t>
            </a:r>
            <a:r>
              <a:rPr sz="1200" b="1" i="0">
                <a:solidFill>
                  <a:srgbClr val="FFFFFF"/>
                </a:solidFill>
                <a:latin typeface="Inter"/>
              </a:rPr>
              <a:t>   uroy80/TeamVoid-Guidewire-Devtrails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01 / 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When the weather breaks,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income disappears.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774"/>
                </a:solidFill>
                <a:latin typeface="Inter"/>
              </a:rPr>
              <a:t>Q-Commerce delivery partners earn per-order. Traditional insurance has never reached them — no payslips, no ITRs, 42–75-day claim cycles.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10881360" cy="1005840"/>
          </a:xfrm>
          <a:prstGeom prst="rect">
            <a:avLst/>
          </a:prstGeom>
          <a:solidFill>
            <a:srgbClr val="F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73152" cy="10058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1">
                <a:solidFill>
                  <a:srgbClr val="002B5C"/>
                </a:solidFill>
                <a:latin typeface="Inter"/>
              </a:rPr>
              <a:t>"Kal 6 ghante kaam nahi kar paya waterlogging ki wajah se. ₹400 ka loss. Hamein kuch nahi milta."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774"/>
                </a:solidFill>
                <a:latin typeface="Inter"/>
              </a:rPr>
              <a:t>— Delivery partner, Andheri East, Mumbai · July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87368"/>
            <a:ext cx="2606040" cy="2130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3–6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Mumbai monsoon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Waterlogging shuts down entire zones mid-shift.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02336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4087368"/>
            <a:ext cx="2606040" cy="2130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₹640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lost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92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Per event, median rider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663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Six hours of high-peak earning vanishes.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2336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087368"/>
            <a:ext cx="2606040" cy="2130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72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92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Income earned per-order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1663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No hourly floor — no deliveries = zero income.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402336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4087368"/>
            <a:ext cx="2606040" cy="2130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0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892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Of claims paid 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16636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No existing insurer underwrites this risk at this price.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02 /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A ₹1,386 Cr annual premium pool,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untapped.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774"/>
                </a:solidFill>
                <a:latin typeface="Inter"/>
              </a:rPr>
              <a:t>Parametric micro-insurance is the only math that clears at ₹15/month. Remove the human adjuster — unlock the entire segment.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02B5C"/>
                </a:solidFill>
                <a:latin typeface="Inter"/>
              </a:rPr>
              <a:t>7.7</a:t>
            </a:r>
            <a:r>
              <a:rPr sz="1500" b="1" i="0">
                <a:solidFill>
                  <a:srgbClr val="F26522"/>
                </a:solidFill>
                <a:latin typeface="Inter"/>
              </a:rPr>
              <a:t>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774"/>
                </a:solidFill>
                <a:latin typeface="Inter"/>
              </a:rPr>
              <a:t>Indian Gig Workers (TAM)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7432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97180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02B5C"/>
                </a:solidFill>
                <a:latin typeface="Inter"/>
              </a:rPr>
              <a:t>1.2</a:t>
            </a:r>
            <a:r>
              <a:rPr sz="1500" b="1" i="0">
                <a:solidFill>
                  <a:srgbClr val="F26522"/>
                </a:solidFill>
                <a:latin typeface="Inter"/>
              </a:rPr>
              <a:t>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03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774"/>
                </a:solidFill>
                <a:latin typeface="Inter"/>
              </a:rPr>
              <a:t>Q-Commerce riders (SAM)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7432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02B5C"/>
                </a:solidFill>
                <a:latin typeface="Inter"/>
              </a:rPr>
              <a:t>1,386</a:t>
            </a:r>
            <a:r>
              <a:rPr sz="1500" b="1" i="0">
                <a:solidFill>
                  <a:srgbClr val="F26522"/>
                </a:solidFill>
                <a:latin typeface="Inter"/>
              </a:rPr>
              <a:t>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03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774"/>
                </a:solidFill>
                <a:latin typeface="Inter"/>
              </a:rPr>
              <a:t>Annual premium pool @ ₹15/mo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74320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97180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02B5C"/>
                </a:solidFill>
                <a:latin typeface="Inter"/>
              </a:rPr>
              <a:t>150</a:t>
            </a:r>
            <a:r>
              <a:rPr sz="1500" b="1" i="0">
                <a:solidFill>
                  <a:srgbClr val="F26522"/>
                </a:solidFill>
                <a:latin typeface="Inter"/>
              </a:rPr>
              <a:t>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703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A6774"/>
                </a:solidFill>
                <a:latin typeface="Inter"/>
              </a:rPr>
              <a:t>Year-1 target (SOM)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Why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5394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Q-Commerce rider workforce tripled (2022–2025), growing 34% YoY.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IRDAI 2024 sandbox explicitly permits parametric micro-insurance pilots.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Climate disruption in tier-1 cities up 2.4× vs. 10-yr baseline.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UPI + Razorpay + Twilio Verify collapse the unit-economics floor.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Why incumbents can't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5394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Legacy insurers need an adjuster — eats premium in one phone call.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Risk is hyperlocal, hour-granular; actuarial tables don't bend that far.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No distribution to gig workers without payslips or bank statements.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Zero major insurers ship in 11 Indian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03 / 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THE REFRAME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This is not a </a:t>
            </a:r>
            <a:r>
              <a:rPr sz="3200" b="1" i="1">
                <a:solidFill>
                  <a:srgbClr val="B0B8C2"/>
                </a:solidFill>
                <a:latin typeface="Inter"/>
              </a:rPr>
              <a:t>claims</a:t>
            </a:r>
            <a:r>
              <a:rPr sz="3200" b="1" i="0">
                <a:solidFill>
                  <a:srgbClr val="002B5C"/>
                </a:solidFill>
                <a:latin typeface="Inter"/>
              </a:rPr>
              <a:t> problem.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  <a:r>
              <a:rPr sz="3200" b="1" i="0">
                <a:solidFill>
                  <a:srgbClr val="002B5C"/>
                </a:solidFill>
                <a:latin typeface="Inter"/>
              </a:rPr>
              <a:t>It is a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parameters</a:t>
            </a:r>
            <a:r>
              <a:rPr sz="3200" b="1" i="0">
                <a:solidFill>
                  <a:srgbClr val="002B5C"/>
                </a:solidFill>
                <a:latin typeface="Inter"/>
              </a:rPr>
              <a:t> problem.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39496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81528"/>
            <a:ext cx="5394960" cy="267919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21868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3A5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506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LEGACY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Indemnity 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E4E8F0"/>
                </a:solidFill>
                <a:latin typeface="Inter"/>
              </a:rPr>
              <a:t>Worker files claim with paperwork.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E4E8F0"/>
                </a:solidFill>
                <a:latin typeface="Inter"/>
              </a:rPr>
              <a:t>Adjuster visits / verifies.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E4E8F0"/>
                </a:solidFill>
                <a:latin typeface="Inter"/>
              </a:rPr>
              <a:t>42–75 day settlement.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E4E8F0"/>
                </a:solidFill>
                <a:latin typeface="Inter"/>
              </a:rPr>
              <a:t>Unit economics impossible below ₹500/mo premium.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5394960" cy="64008"/>
          </a:xfrm>
          <a:prstGeom prst="rect">
            <a:avLst/>
          </a:prstGeom>
          <a:solidFill>
            <a:srgbClr val="1FA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081528"/>
            <a:ext cx="5394960" cy="2679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321868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506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GIGSHIELD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2B5C"/>
                </a:solidFill>
                <a:latin typeface="Inter"/>
              </a:rPr>
              <a:t>Parametric insurance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02336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0E1A2A"/>
                </a:solidFill>
                <a:latin typeface="Inter"/>
              </a:rPr>
              <a:t>Trigger fires on public data (weather/AQI/community).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0E1A2A"/>
                </a:solidFill>
                <a:latin typeface="Inter"/>
              </a:rPr>
              <a:t>Claim auto-generated, not submitted.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0E1A2A"/>
                </a:solidFill>
                <a:latin typeface="Inter"/>
              </a:rPr>
              <a:t>BAS fraud check + real Razorpay payout in &lt; 10 min.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00" b="1">
                <a:solidFill>
                  <a:srgbClr val="F26522"/>
                </a:solidFill>
                <a:latin typeface="Inter"/>
              </a:rPr>
              <a:t>◆ </a:t>
            </a:r>
            <a:r>
              <a:rPr sz="1200">
                <a:solidFill>
                  <a:srgbClr val="0E1A2A"/>
                </a:solidFill>
                <a:latin typeface="Inter"/>
              </a:rPr>
              <a:t>Works at ₹15–₹199/week — human is out of the loop.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89320"/>
            <a:ext cx="73152" cy="36576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002B5C"/>
                </a:solidFill>
                <a:latin typeface="Inter"/>
              </a:rPr>
              <a:t>Payout  =  min( cap_policy ,  hours_lost  ×  r_hourly  ×  σ_severity )    with σ ∈ [1.0, 1.8]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04 /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HOW A DISRUPTION BECOMES A PAYOUT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Four steps. Zero paperwork.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Under 10 minutes.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45920" y="2724912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Parametric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Open-Meteo, AQICN or ≥3 community reports cross threshold for a geo-fenced zone.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3246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26522"/>
                </a:solidFill>
                <a:latin typeface="Inter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56032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9120" y="2724912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91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Claim Auto-Created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6118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Claim Service finds every active policy in the zone, mints a claim per worker.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3246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26522"/>
                </a:solidFill>
                <a:latin typeface="Inter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56032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0" y="2724912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291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11-signal BAS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118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Fraud Service scores every claim. &lt; 0.30 auto-approves.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3246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26522"/>
                </a:solidFill>
                <a:latin typeface="Inter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56032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75520" y="2724912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2779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291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Razorpay Payout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6118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Real Orders API returns order_XXX. Worker sees confetti + UTR.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6344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727448"/>
            <a:ext cx="2606040" cy="1399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7240" y="48463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8783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1663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2B5C"/>
                </a:solidFill>
                <a:latin typeface="Inter"/>
              </a:rPr>
              <a:t>5 triggers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532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Heat &gt;45°C, Rain &gt;65 mm/h, AQI &gt;400, Floods, Curfew.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466344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0" y="4727448"/>
            <a:ext cx="2606040" cy="1399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20440" y="48463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48783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51663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2B5C"/>
                </a:solidFill>
                <a:latin typeface="Inter"/>
              </a:rPr>
              <a:t>11 signals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5532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Behavioral anti-spoofing, ring-fraud aware.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66344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4727448"/>
            <a:ext cx="2606040" cy="1399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63640" y="48463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48783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1663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2B5C"/>
                </a:solidFill>
                <a:latin typeface="Inter"/>
              </a:rPr>
              <a:t>3 gateways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532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Razorpay (real) / UPI / Stripe. VPA-routed.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466344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69680" y="4727448"/>
            <a:ext cx="2606040" cy="1399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06840" y="48463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06840" y="48783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51663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2B5C"/>
                </a:solidFill>
                <a:latin typeface="Inter"/>
              </a:rPr>
              <a:t>11 languages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55321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5A6774"/>
                </a:solidFill>
                <a:latin typeface="Inter"/>
              </a:rPr>
              <a:t>English + 10 Indian languages, auto-detect + persist.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05 /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TRY IT RIGHT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Deployed, monitored,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and taking real payments.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3657600" cy="64008"/>
          </a:xfrm>
          <a:prstGeom prst="rect">
            <a:avLst/>
          </a:prstGeom>
          <a:solidFill>
            <a:srgbClr val="1FA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32888"/>
            <a:ext cx="3657600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6974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294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358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gigshield.in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774"/>
                </a:solidFill>
                <a:latin typeface="Inter"/>
              </a:rPr>
              <a:t>Main worker PWA. Real Twilio Verify OTP.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https://gigshield.in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46888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532888"/>
            <a:ext cx="3657600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26974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E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7294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26522"/>
                </a:solidFill>
                <a:latin typeface="Inter"/>
              </a:rPr>
              <a:t>ADMIN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0358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gigshield.in/admin/login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42900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774"/>
                </a:solidFill>
                <a:latin typeface="Inter"/>
              </a:rPr>
              <a:t>Live Ops SSE feed, fraud review, GPT-5.4 insights.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06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admin@gigshield.in · admin123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468880"/>
            <a:ext cx="3657600" cy="64008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532888"/>
            <a:ext cx="3657600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26974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7294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A7E1"/>
                </a:solidFill>
                <a:latin typeface="Inter"/>
              </a:rPr>
              <a:t>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0358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gigshield.in/demo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42900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774"/>
                </a:solidFill>
                <a:latin typeface="Inter"/>
              </a:rPr>
              <a:t>3 anti-spoofing scenarios: legit, spoof, 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206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No login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46320"/>
            <a:ext cx="10972800" cy="64008"/>
          </a:xfrm>
          <a:prstGeom prst="rect">
            <a:avLst/>
          </a:prstGeom>
          <a:solidFill>
            <a:srgbClr val="1FA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910328"/>
            <a:ext cx="10972800" cy="14630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Proof of real Razorpay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406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9E7FF"/>
                </a:solidFill>
                <a:latin typeface="Menlo"/>
              </a:rPr>
              <a:t>Production container just created a genuine order against Razorpay's live API: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9E7FF"/>
                </a:solidFill>
                <a:latin typeface="Menlo"/>
              </a:rPr>
              <a:t>   {"id": "order_SeeezClhAFfttw", "entity": "order", "amount": 10000, "status": "created", "created_at": 1776449620}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06 /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END-TO-END, AS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Production architecture.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Single-region, horizontally scalable.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920240"/>
            <a:ext cx="10972800" cy="29260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057400"/>
            <a:ext cx="106984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                     ┌────────────────────────────────┐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                     │    Cloudflare  (WAF · SSL)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                     └────────────────┬───────────────┘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┌─────────────────────────────────────┴────────────────────────────┐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Hostinger VPS  (Ubuntu 22.04 · Docker)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           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Nginx :443 ──────┐  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│            │  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▼            ▼  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┌────────┐   ┌────────────────────────┐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│React 19│   │ Node 20 · Express 4    │ ◀── api.razorpay.com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│  PWA   │   │ 15 Svcs · 9 Migrations │ ◀── Twilio Verify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│ 11 lang│   │ SSE /events/stream     │ ◀── OpenAI GPT-5.4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└────────┘   └──────┬─────────────────┘ ◀── AQICN / Open-Meteo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            │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            ▼                      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┌──────────────┐   ┌──────────────┐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│ PostgreSQL 16│   │  Redis 7      │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│ 9 migrations │   │ AI+SSE cache  │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│ PostGIS      │   │ weather 30m   │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│           └──────────────┘   └──────────────┘                       │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Menlo"/>
              </a:rPr>
              <a:t>         └───────────────────────────────────────────────────────────────────┘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093208"/>
            <a:ext cx="260604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15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Backend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502920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5093208"/>
            <a:ext cx="260604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5257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9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8978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Database migrations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02920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5093208"/>
            <a:ext cx="260604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257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22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8978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Frontend pages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502920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5093208"/>
            <a:ext cx="2606040" cy="13075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5257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5,580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8978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Real dark stores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07 / ANTI-SPOOFING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BEHAVIORAL ANTI-SPOOFING · 11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Fraud at scale is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boring,</a:t>
            </a:r>
            <a:r>
              <a:rPr sz="3200" b="1" i="0">
                <a:solidFill>
                  <a:srgbClr val="002B5C"/>
                </a:solidFill>
                <a:latin typeface="Inter"/>
              </a:rPr>
              <a:t> not theatrical.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774"/>
                </a:solidFill>
                <a:latin typeface="Inter"/>
              </a:rPr>
              <a:t>The real attack isn't a GPS spoof — it's 50 riders sharing one device fingerprint from one hostel. BAS catches clusters, not just individuals.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97480"/>
            <a:ext cx="73152" cy="4572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002B5C"/>
                </a:solidFill>
                <a:latin typeface="Inter"/>
              </a:rPr>
              <a:t>BAS(c) = Σⱼ₌₁..₁₁  wⱼ · fⱼ(c),    Σ wⱼ = 1,    fⱼ(c) ∈ [0, 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10972800" cy="3200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83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83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83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WHAT IT CATCHES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10972800" cy="228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941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941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IMPOSSIBLE_TRAVEL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6941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6941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Haversine ÷ Δt &gt; 120 km/h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227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9227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DEVICE_FINGERPRINT_REUSE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9227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227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Same FP on ≥3 worker IDs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14800"/>
            <a:ext cx="10972800" cy="228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513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151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VPA_COLLISION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1513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151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Same UPI VPA on ≥2 profiles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3799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99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CLAIM_BURST_RATE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3799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3799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&gt; 3 claims in rolling 24h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572000"/>
            <a:ext cx="10972800" cy="228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6085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6085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GPS_JITTER_OUTLIER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6085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6085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Lat/lng std-dev anomalous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371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8371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ZONE_MISMATCH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8371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8371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Claim outside insured zones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029200"/>
            <a:ext cx="10972800" cy="228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0657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0657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TIMESTAMP_ANOMALY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50657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0657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Client clock skew &gt; 5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2943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294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IP_ASN_SHARING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52943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294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≥5 workers on one ASN in 1h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486400"/>
            <a:ext cx="10972800" cy="228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5229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5229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NEW_ACCOUNT_VELOCITY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55229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55229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Account &lt;72h old, ≥2 claims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7515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57515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PAYOUT_ACCOUNT_CHURN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0" y="57515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57515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Beneficiary VPA changed in 7d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5943600"/>
            <a:ext cx="10972800" cy="228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9801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59801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B5C"/>
                </a:solidFill>
                <a:latin typeface="Menlo"/>
              </a:rPr>
              <a:t>PATTERN_SIMILARITY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0" y="59801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E1A2A"/>
                </a:solidFill>
                <a:latin typeface="Inter"/>
              </a:rPr>
              <a:t>0.02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59801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Cosine sim to known 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08 / 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REAL RAZORPAY + VPA-SUFFIX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Real API calls. Real order_XXX IDs.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Graceful fallback.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Gateway routing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14600"/>
            <a:ext cx="5440680" cy="14630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45720" cy="14630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06040"/>
            <a:ext cx="5166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9E7FF"/>
                </a:solidFill>
                <a:latin typeface="Menlo"/>
              </a:rPr>
              <a:t>// VPA suffix → gateway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9E7FF"/>
                </a:solidFill>
                <a:latin typeface="Menlo"/>
              </a:rPr>
              <a:t>*@paytm                      → Razorpay API  (REAL)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9E7FF"/>
                </a:solidFill>
                <a:latin typeface="Menlo"/>
              </a:rPr>
              <a:t>*@upi, *@ybl, *@okhdfcbank   → UPI gateway   (mock)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9E7FF"/>
                </a:solidFill>
                <a:latin typeface="Menlo"/>
              </a:rPr>
              <a:t>card, *@stripe               → Stripe         (mock)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9E7FF"/>
                </a:solidFill>
                <a:latin typeface="Menlo"/>
              </a:rPr>
              <a:t>*@oksbi, *@ibl               → UPI gateway   (mock)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9E7FF"/>
                </a:solidFill>
                <a:latin typeface="Menlo"/>
              </a:rPr>
              <a:t>fallback                     → Razorpay API  (REAL)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Why Orders API, not Payouts?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5440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RazorpayX Payouts needs account activation — test accounts don't get it.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Orders API is universal; returns real order_XXX any judge can look up.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Settlement modeled out-of-band with realistic 1.8–3.2s delay.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0312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Live API call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514600"/>
            <a:ext cx="5440680" cy="2743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514600"/>
            <a:ext cx="45720" cy="27432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166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POST https://api.razorpay.com/v1/orders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Authorization: Basic base64(KEY_ID:SECRET)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Content-Type: application/json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{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"amount": 32000,     // paise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"currency": "INR",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"receipt": claimId,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"notes": {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  "beneficiary_upi": "rider@paytm",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  "claim_id": "CLM-ABC12"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}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// → order_SeeezClhAFfttw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// → stored as transaction_ref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623560"/>
            <a:ext cx="10972800" cy="64008"/>
          </a:xfrm>
          <a:prstGeom prst="rect">
            <a:avLst/>
          </a:prstGeom>
          <a:solidFill>
            <a:srgbClr val="1FA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87568"/>
            <a:ext cx="10972800" cy="777240"/>
          </a:xfrm>
          <a:prstGeom prst="rect">
            <a:avLst/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80644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1F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384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VERIFIED IN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064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02B5C"/>
                </a:solidFill>
                <a:latin typeface="Inter"/>
              </a:rPr>
              <a:t>18:13 UTC, April 17: prod container created order_SeeezClhAFfttw against Razorpay's live API — logged, audited, grep-able in the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09 /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OPENAI GPT-5.4 · THREE 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Natural-language reasoning where humans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actually read.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774"/>
                </a:solidFill>
                <a:latin typeface="Inter"/>
              </a:rPr>
              <a:t>No Python microservice. Pure TypeScript via the official OpenAI SDK. Redis-cached.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98648"/>
            <a:ext cx="3657600" cy="2679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0358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E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6781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26522"/>
                </a:solidFill>
                <a:latin typeface="Inter"/>
              </a:rPr>
              <a:t>WORKER-FACING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Risk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0E1A2A"/>
                </a:solidFill>
                <a:latin typeface="Inter"/>
              </a:rPr>
              <a:t>"Your zone (Powai) has HIGH risk because it floods during monsoon peaks and your delivery hours overlap with peak heat..."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A6774"/>
                </a:solidFill>
                <a:latin typeface="Menlo"/>
              </a:rPr>
              <a:t>generateRiskNarrative(worker, score)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A6774"/>
                </a:solidFill>
                <a:latin typeface="Menlo"/>
              </a:rPr>
              <a:t>cache: Redis 1h TTL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834640"/>
            <a:ext cx="3657600" cy="6400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2898648"/>
            <a:ext cx="3657600" cy="2679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30358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06781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B5C"/>
                </a:solidFill>
                <a:latin typeface="Inter"/>
              </a:rPr>
              <a:t>ADMIN-FACING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Claim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947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0E1A2A"/>
                </a:solidFill>
                <a:latin typeface="Inter"/>
              </a:rPr>
              <a:t>"Claim shows IMPOSSIBLE_TRAVEL of 450 km/h between pings. Device FP reused from flagged account wr_abc123. Recommend REJECT."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A6774"/>
                </a:solidFill>
                <a:latin typeface="Menlo"/>
              </a:rPr>
              <a:t>generateClaimAssessment(claim, bas)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A6774"/>
                </a:solidFill>
                <a:latin typeface="Menlo"/>
              </a:rPr>
              <a:t>context: full BAS breakdown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834640"/>
            <a:ext cx="3657600" cy="64008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2898648"/>
            <a:ext cx="3657600" cy="2679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03920" y="30358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06781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A7E1"/>
                </a:solidFill>
                <a:latin typeface="Inter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Fraud Pattern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7947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0E1A2A"/>
                </a:solidFill>
                <a:latin typeface="Inter"/>
              </a:rPr>
              <a:t>"3 claims flagged this week. Pattern: shared device fingerprints from Koramangala suggest coordinated ring fraud."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A6774"/>
                </a:solidFill>
                <a:latin typeface="Menlo"/>
              </a:rPr>
              <a:t>generateFraudSummary(recent)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A6774"/>
                </a:solidFill>
                <a:latin typeface="Menlo"/>
              </a:rPr>
              <a:t>cache: Redis 10 min TTL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715000"/>
            <a:ext cx="109728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779008"/>
            <a:ext cx="10972800" cy="71323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521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RAG context we inject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1447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9E7FF"/>
                </a:solidFill>
                <a:latin typeface="Inter"/>
              </a:rPr>
              <a:t>Worker BAS breakdown · claim history · zone weather history · device fingerprint · ring-fraud signal output · policy metadata — structured as typed JSON so GPT-5.4 returns bounded, citable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10 / I18N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VERNACULAR IS NOT A CHECKBOX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11 Indian languages.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Native scripts.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> Auto-detected.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774"/>
                </a:solidFill>
                <a:latin typeface="Inter"/>
              </a:rPr>
              <a:t>First three test riders asked "Tamil me hai kya?" within 2 minutes. We shipped i18n that evening.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1828800" cy="45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en · Latin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4320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27889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हिन्दी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hi · Devanagari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74320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7889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தமிழ்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ta · Tamil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74320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7889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తెలుగు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te · Telugu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74320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7889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বাংলা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bn · Bengali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74320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12680" y="27889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मराठी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mr · Devanagari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84048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388620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ಕನ್ನಡ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526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kn · Kannada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384048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14600" y="388620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ગુજરાતી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526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gu · Gujarati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84048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388620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ਪੰਜਾਬੀ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4526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pa · Gurmukhi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84048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388620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മലയാളം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526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ml · Malayalam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3840480"/>
            <a:ext cx="1828800" cy="45720"/>
          </a:xfrm>
          <a:prstGeom prst="rect">
            <a:avLst/>
          </a:prstGeom>
          <a:solidFill>
            <a:srgbClr val="E0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60" y="388620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2B5C"/>
                </a:solidFill>
                <a:latin typeface="Inter"/>
              </a:rPr>
              <a:t>ଓଡ଼ିଆ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526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A6774"/>
                </a:solidFill>
                <a:latin typeface="Inter"/>
              </a:rPr>
              <a:t>or · Odia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12680" y="3840480"/>
            <a:ext cx="1828800" cy="45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12680" y="3886200"/>
            <a:ext cx="1828800" cy="9144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12680" y="3968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C0D8"/>
                </a:solidFill>
                <a:latin typeface="Inter"/>
              </a:rPr>
              <a:t>STACK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418795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i18next</a:t>
            </a:r>
          </a:p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+ react-i18next</a:t>
            </a:r>
          </a:p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+ browser-detector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A6774"/>
                </a:solidFill>
                <a:latin typeface="Inter"/>
              </a:rPr>
              <a:t>Implementation: auto-detected from device locale on first load, persisted to localStorage, switchable via globe icon in every page header. 40+ keys per locale covering Welcome, Login, Dashboard, Profile and all CTAs. 440+ translated strings total.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11 / REAL-TIME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SERVER-SENT EVENTS · &lt; 800 MS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Static dashboards feel like schoolwork.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Ours breathes.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6 typed event streams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5394960" cy="411480"/>
          </a:xfrm>
          <a:prstGeom prst="rect">
            <a:avLst/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96265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946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99008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B5C"/>
                </a:solidFill>
                <a:latin typeface="Menlo"/>
              </a:rPr>
              <a:t>TRIGGER_FIRED  </a:t>
            </a:r>
            <a:r>
              <a:rPr sz="1100" b="0" i="0">
                <a:solidFill>
                  <a:srgbClr val="0E1A2A"/>
                </a:solidFill>
                <a:latin typeface="Inter"/>
              </a:rPr>
              <a:t> — new disruption 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64992"/>
            <a:ext cx="5394960" cy="411480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792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4747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B5C"/>
                </a:solidFill>
                <a:latin typeface="Menlo"/>
              </a:rPr>
              <a:t>CLAIM_CREATED  </a:t>
            </a:r>
            <a:r>
              <a:rPr sz="1100" b="0" i="0">
                <a:solidFill>
                  <a:srgbClr val="0E1A2A"/>
                </a:solidFill>
                <a:latin typeface="Inter"/>
              </a:rPr>
              <a:t> — auto-claim minted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9624"/>
            <a:ext cx="5394960" cy="411480"/>
          </a:xfrm>
          <a:prstGeom prst="rect">
            <a:avLst/>
          </a:prstGeom>
          <a:solidFill>
            <a:srgbClr val="FD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9319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6392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ORANGE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95935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B5C"/>
                </a:solidFill>
                <a:latin typeface="Menlo"/>
              </a:rPr>
              <a:t>FRAUD_CHECKED  </a:t>
            </a:r>
            <a:r>
              <a:rPr sz="1100" b="0" i="0">
                <a:solidFill>
                  <a:srgbClr val="0E1A2A"/>
                </a:solidFill>
                <a:latin typeface="Inter"/>
              </a:rPr>
              <a:t> — BAS score computed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34256"/>
            <a:ext cx="5394960" cy="411480"/>
          </a:xfrm>
          <a:prstGeom prst="rect">
            <a:avLst/>
          </a:prstGeom>
          <a:solidFill>
            <a:srgbClr val="E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4165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4855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44398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B5C"/>
                </a:solidFill>
                <a:latin typeface="Menlo"/>
              </a:rPr>
              <a:t>PAYOUT_SENT  </a:t>
            </a:r>
            <a:r>
              <a:rPr sz="1100" b="0" i="0">
                <a:solidFill>
                  <a:srgbClr val="0E1A2A"/>
                </a:solidFill>
                <a:latin typeface="Inter"/>
              </a:rPr>
              <a:t> — Razorpay accepted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18888"/>
            <a:ext cx="5394960" cy="411480"/>
          </a:xfrm>
          <a:prstGeom prst="rect">
            <a:avLst/>
          </a:prstGeom>
          <a:solidFill>
            <a:srgbClr val="EA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90118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0A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331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92861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B5C"/>
                </a:solidFill>
                <a:latin typeface="Menlo"/>
              </a:rPr>
              <a:t>WORKER_REGISTERED  </a:t>
            </a:r>
            <a:r>
              <a:rPr sz="1100" b="0" i="0">
                <a:solidFill>
                  <a:srgbClr val="0E1A2A"/>
                </a:solidFill>
                <a:latin typeface="Inter"/>
              </a:rPr>
              <a:t> — rider onboarded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303520"/>
            <a:ext cx="5394960" cy="411480"/>
          </a:xfrm>
          <a:prstGeom prst="rect">
            <a:avLst/>
          </a:prstGeom>
          <a:solidFill>
            <a:srgbClr val="F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" y="538581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4178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PURPLE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41324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2B5C"/>
                </a:solidFill>
                <a:latin typeface="Menlo"/>
              </a:rPr>
              <a:t>POLICY_CREATED  </a:t>
            </a:r>
            <a:r>
              <a:rPr sz="1100" b="0" i="0">
                <a:solidFill>
                  <a:srgbClr val="0E1A2A"/>
                </a:solidFill>
                <a:latin typeface="Inter"/>
              </a:rPr>
              <a:t> — coverage purchased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4231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Implementation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834640"/>
            <a:ext cx="5394960" cy="28346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2834640"/>
            <a:ext cx="45720" cy="28346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9260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// services/events.service.ts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export class EventBus extends EventEmitter {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emit&lt;T&gt;(type: EventType, payload: T) {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  super.emit('event', { type, payload, ts: Date.now() });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}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// routes/events.routes.ts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router.get('/admin/events/stream', requireAdmin, (req, res) =&gt; {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res.writeHead(200, {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  'Content-Type': 'text/event-stream',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  'Cache-Control': 'no-cache',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});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bus.on('event', e =&gt; res.write(`data: ${JSON.stringify(e)}\n\n`));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// 30s heartbeat survives Cloudflare idle timeout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  setInterval(() =&gt; res.write(': hb\n\n'), 30000);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D9E7FF"/>
                </a:solidFill>
                <a:latin typeface="Menlo"/>
              </a:rPr>
              <a:t>});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806440"/>
            <a:ext cx="5394960" cy="64008"/>
          </a:xfrm>
          <a:prstGeom prst="rect">
            <a:avLst/>
          </a:prstGeom>
          <a:solidFill>
            <a:srgbClr val="1FA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5870448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96188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Each event animates into the feed. Live payout counter ticks upward on every PAYOUT_SENT — our "stop scrolling" demo moment.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12 / COMMUNITY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WORKERS AS HYPERLOCAL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Weather APIs lag 15–30 minutes.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A rider in water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already knows.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The feedback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246120"/>
            <a:ext cx="18288" cy="30175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46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Worker taps "Report Condition"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204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Icons: Heavy Rain / Flood / Heat / Pollution / Strike. GPS auto-captured, severity slider.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23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Cluster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976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≥3 reports within 2 km + 15 min → provisional DisruptionEvent → claims begin.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006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API confirmation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749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Later, when Open-Meteo/AQICN confirms the same event: boostTrustOnApiConfirm().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1F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778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2B5C"/>
                </a:solidFill>
                <a:latin typeface="Inter"/>
              </a:rPr>
              <a:t>Trust Score +50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852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Every original reporter earns +50 Trust Score. Honest reporting gets rewarded.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743200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807208"/>
            <a:ext cx="5349240" cy="18288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29718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5E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00380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8139"/>
                </a:solidFill>
                <a:latin typeface="Inter"/>
              </a:rPr>
              <a:t>WHY THIS WINS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33756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No other team ships this.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794760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0E8F2"/>
                </a:solidFill>
                <a:latin typeface="Inter"/>
              </a:rPr>
              <a:t>We turn 1.2M riders into a distributed sensor network that outruns commercial weather APIs by minutes. Over time the system becomes more accurate than its upstream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5488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2B5C"/>
                </a:solidFill>
                <a:latin typeface="Inter"/>
              </a:rPr>
              <a:t>On-disk proof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074920"/>
            <a:ext cx="534924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12064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B5C"/>
                </a:solidFill>
                <a:latin typeface="Menlo"/>
              </a:rPr>
              <a:t>migrations/005_community_reports.ts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206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table + trust_score column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41324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B5C"/>
                </a:solidFill>
                <a:latin typeface="Menlo"/>
              </a:rPr>
              <a:t>services/community.service.ts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4132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checkCluster · boost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660136"/>
            <a:ext cx="5349240" cy="2926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70585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B5C"/>
                </a:solidFill>
                <a:latin typeface="Menlo"/>
              </a:rPr>
              <a:t>routes/community.routes.ts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70585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POST /report · GET /pending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9984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2B5C"/>
                </a:solidFill>
                <a:latin typeface="Menlo"/>
              </a:rPr>
              <a:t>components/ReportConditionModal.tsx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99846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E1A2A"/>
                </a:solidFill>
                <a:latin typeface="Inter"/>
              </a:rPr>
              <a:t>5-icon worker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13 / ECONOMICS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UNIT ECONOMICS · WEEKLY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₹29–₹199/week.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Loss ratio 62% projected.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10972800" cy="3200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23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23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423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PREMIUM /WK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MAX PAYOUT /EVENT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423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EXP. CLAIMS 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423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BURN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97480"/>
            <a:ext cx="10972800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28346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86664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2B5C"/>
                </a:solidFill>
                <a:latin typeface="Inter"/>
              </a:rPr>
              <a:t>Basic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862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40% of lost income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8620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₹29 – ₹70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862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₹400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8620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1.8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862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58%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33756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3695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A7E1"/>
                </a:solidFill>
                <a:latin typeface="Inter"/>
              </a:rPr>
              <a:t>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3649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60% of lost income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33649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₹71 – ₹140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3649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₹750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3649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2.4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62%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703320"/>
            <a:ext cx="10972800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384048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E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8724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26522"/>
                </a:solidFill>
                <a:latin typeface="Inter"/>
              </a:rPr>
              <a:t>Premium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3867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80% of lost income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679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₹141 – ₹199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3867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₹1,200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8679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3.1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8679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A2A"/>
                </a:solidFill>
                <a:latin typeface="Inter"/>
              </a:rPr>
              <a:t>64%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75488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4818888"/>
            <a:ext cx="2606040" cy="1673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834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62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Target loss ratio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897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Industry bench: 58–72% for parametric micro-insurance.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475488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83280" y="4818888"/>
            <a:ext cx="2606040" cy="1673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0440" y="49834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~0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Adjuster cost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5897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Fully automated. Human only on UNDER_REVIEW.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475488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26480" y="4818888"/>
            <a:ext cx="2606040" cy="1673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49834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2B5C"/>
                </a:solidFill>
                <a:latin typeface="Inter"/>
              </a:rPr>
              <a:t>18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1A2A"/>
                </a:solidFill>
                <a:latin typeface="Inter"/>
              </a:rPr>
              <a:t>Gross margin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97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774"/>
                </a:solidFill>
                <a:latin typeface="Inter"/>
              </a:rPr>
              <a:t>After fees, GST, infra and ~8% BAS-flagged leak.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4754880"/>
            <a:ext cx="26060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69680" y="4818888"/>
            <a:ext cx="2606040" cy="1673352"/>
          </a:xfrm>
          <a:prstGeom prst="rect">
            <a:avLst/>
          </a:prstGeom>
          <a:solidFill>
            <a:srgbClr val="002B5C"/>
          </a:solidFill>
          <a:ln w="635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49834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Inter"/>
              </a:rPr>
              <a:t>208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Cr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Year-3 GWP 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5897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0D8E4"/>
                </a:solidFill>
                <a:latin typeface="Inter"/>
              </a:rPr>
              <a:t>At 15% SOM of Q-Comm riders (~180K policies).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14 / TECH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WHAT'S ACTUALLY IN THE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No vapourware.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Every claim grep-able.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32888"/>
            <a:ext cx="3657600" cy="18105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7180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React 19 + TypeScript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Vite, Tailwind CSS v4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Zustand for state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i18next (11 locales)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sonner + canvas-confetti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react-countup, jsPDF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@react-google-maps/api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46888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532888"/>
            <a:ext cx="3657600" cy="18105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7180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Node 20 + Express 4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Knex (9 migrations)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PostgreSQL 16 + PostGIS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Redis 7 (cache + SSE)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Zod, Pino, node-cron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JWT + refresh tokens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15 service modules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46888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532888"/>
            <a:ext cx="3657600" cy="18105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97180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Razorpay Orders API (real)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Twilio Verify (real OTP)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OpenAI GPT-5.4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Open-Meteo (free)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AQICN (air quality)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Google Maps JS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26279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90287"/>
            <a:ext cx="3657600" cy="18105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0915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9199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Hostinger VPS · Ubuntu 22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Docker + Compose (prod)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Nginx reverse proxy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Cloudflare (SSL, WAF)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Multi-stage Dockerfile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Image &lt; 300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526279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590287"/>
            <a:ext cx="3657600" cy="18105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70915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29199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TypeScript strict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Zod env validation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Hash-chained audit (mig 006)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Error boundaries (React)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Skeleton loaders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Rate-limit + Helmet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526279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590287"/>
            <a:ext cx="3657600" cy="18105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70915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029199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~5,580 real dark stores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11 i18n locale JSONs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9 migrations + 4 seeds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22 frontend pages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11-signal BAS engine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1">
                <a:solidFill>
                  <a:srgbClr val="F26522"/>
                </a:solidFill>
                <a:latin typeface="Inter"/>
              </a:rPr>
              <a:t>◆ </a:t>
            </a:r>
            <a:r>
              <a:rPr sz="1000">
                <a:solidFill>
                  <a:srgbClr val="0E1A2A"/>
                </a:solidFill>
                <a:latin typeface="Inter"/>
              </a:rPr>
              <a:t>3 payment gateways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15 / 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WHAT SHIPPED IN 13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From Phase-2 prototype to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real Razorpay payouts.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31720"/>
            <a:ext cx="269748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269748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60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100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5A6774"/>
                </a:solidFill>
                <a:latin typeface="Inter"/>
              </a:rPr>
              <a:t>Phase-3 plan shipped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331720"/>
            <a:ext cx="269748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395728"/>
            <a:ext cx="269748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651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Menlo"/>
              </a:rPr>
              <a:t>order_SeeezClhAFfttw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08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5A6774"/>
                </a:solidFill>
                <a:latin typeface="Inter"/>
              </a:rPr>
              <a:t>Live Razorpay production order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31720"/>
            <a:ext cx="269748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395728"/>
            <a:ext cx="269748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&lt;1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08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5A6774"/>
                </a:solidFill>
                <a:latin typeface="Inter"/>
              </a:rPr>
              <a:t>SSE event latency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331720"/>
            <a:ext cx="269748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395728"/>
            <a:ext cx="2697480" cy="11247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5603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11</a:t>
            </a:r>
            <a:r>
              <a:rPr sz="1400" b="1" i="0">
                <a:solidFill>
                  <a:srgbClr val="F26522"/>
                </a:solidFill>
                <a:latin typeface="Inter"/>
              </a:rPr>
              <a:t> lang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1089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5A6774"/>
                </a:solidFill>
                <a:latin typeface="Inter"/>
              </a:rPr>
              <a:t>Indian languages · native scripts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B5C"/>
                </a:solidFill>
                <a:latin typeface="Inter"/>
              </a:rPr>
              <a:t>Phase 3 changelog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970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197096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FEATURE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1970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419709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434840"/>
            <a:ext cx="10972800" cy="2011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4622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46227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Real Razorpay Orders API (with mock fallback)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46227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external/payments/razorpay.mock.ts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44200" y="444398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44200" y="44759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6634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66344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VPA-suffix payment routing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66344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external/payments/index.ts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44200" y="46451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44200" y="467715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837176"/>
            <a:ext cx="10972800" cy="2011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86460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486460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Payout lifecycle (UTR, fee, tax, response)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86460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migrations/009_payout_lifecycle.ts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44200" y="484632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44200" y="48783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0657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506577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SSE Live Ops feed with 6 typed events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506577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routes/events.routes.ts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44200" y="504748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44200" y="50794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239512"/>
            <a:ext cx="10972800" cy="2011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26694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26694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Community hyperlocal reports + cluster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526694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services/community.service.ts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44200" y="52486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44200" y="52806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546811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546811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Trust Score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760" y="546811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migrations/005_community_reports.ts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744200" y="544982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44200" y="54818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5641848"/>
            <a:ext cx="10972800" cy="2011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566928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88720" y="566928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11-language i18n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56692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frontend/src/i18n/locales/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744200" y="565099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44200" y="568299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87044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88720" y="587044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Worker celebration (confetti + UTR toast)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80760" y="58704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sonner + canvas-confetti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744200" y="58521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744200" y="588416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6044184"/>
            <a:ext cx="10972800" cy="2011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" y="607161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8720" y="607161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Hero stats on Welcome + public stats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0760" y="607161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components/HeroStats.tsx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744200" y="605332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44200" y="608533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627278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88720" y="627278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E1A2A"/>
                </a:solidFill>
                <a:latin typeface="Inter"/>
              </a:rPr>
              <a:t>Ring-fraud hardening (ASN + FP indexing)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80760" y="627278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02B5C"/>
                </a:solidFill>
                <a:latin typeface="Menlo"/>
              </a:rPr>
              <a:t>migrations/008_ring_fraud_hardening.ts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744200" y="625449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744200" y="62865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AE5F"/>
                </a:solidFill>
                <a:latin typeface="Inter"/>
              </a:rPr>
              <a:t>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"/>
            <a:ext cx="443132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40" y="164592"/>
            <a:ext cx="18288" cy="1828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18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E2F0"/>
                </a:solidFill>
                <a:latin typeface="Inter"/>
              </a:rPr>
              <a:t>Phase 3 Final Submission   ·   Guidewire DEVTrails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C8D3E3"/>
                </a:solidFill>
                <a:latin typeface="Inter"/>
              </a:rPr>
              <a:t>16 /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94A0"/>
                </a:solidFill>
                <a:latin typeface="Inter"/>
              </a:rPr>
              <a:t>GIGSHIELD © 2026 TEAM VOID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4280" y="6583680"/>
            <a:ext cx="502920" cy="228600"/>
          </a:xfrm>
          <a:prstGeom prst="roundRect">
            <a:avLst>
              <a:gd name="adj" fmla="val 30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62025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859536"/>
            <a:ext cx="228600" cy="2743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PATH TO 150,000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2B5C"/>
                </a:solidFill>
                <a:latin typeface="Inter"/>
              </a:rPr>
              <a:t>Next 12 months. </a:t>
            </a:r>
            <a:r>
              <a:rPr sz="3200" b="1" i="0">
                <a:solidFill>
                  <a:srgbClr val="F26522"/>
                </a:solidFill>
                <a:latin typeface="Inter"/>
              </a:rPr>
              <a:t>Scale + regulation + distribution.</a:t>
            </a:r>
            <a:r>
              <a:rPr sz="3200" b="1" i="0">
                <a:solidFill>
                  <a:srgbClr val="002B5C"/>
                </a:solidFill>
                <a:latin typeface="Inter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3657600" cy="64008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87168"/>
            <a:ext cx="3657600" cy="3044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6243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5633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0A7E1"/>
                </a:solidFill>
                <a:latin typeface="Inter"/>
              </a:rPr>
              <a:t>Q2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Pilot with one Q-Comm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Blinkit or Zepto pilot — 5,000 riders in Mumbai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RazorpayX activation for real payouts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IRDAI sandbox application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Integration with platform payroll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42316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487168"/>
            <a:ext cx="3657600" cy="3044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26243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E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65633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26522"/>
                </a:solidFill>
                <a:latin typeface="Inter"/>
              </a:rPr>
              <a:t>Q3–Q4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971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2B5C"/>
                </a:solidFill>
                <a:latin typeface="Inter"/>
              </a:rPr>
              <a:t>Regulatory +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033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Partner with a licensed general insurer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ML-based ring detection (graph embeddings)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WhatsApp-native onboarding channel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0E1A2A"/>
                </a:solidFill>
                <a:latin typeface="Inter"/>
              </a:rPr>
              <a:t>Expand to 3 cities · 50,000 riders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423160"/>
            <a:ext cx="365760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487168"/>
            <a:ext cx="3657600" cy="3044952"/>
          </a:xfrm>
          <a:prstGeom prst="rect">
            <a:avLst/>
          </a:prstGeom>
          <a:solidFill>
            <a:srgbClr val="002B5C"/>
          </a:solidFill>
          <a:ln w="635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0" y="26243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5E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65633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8139"/>
                </a:solidFill>
                <a:latin typeface="Inter"/>
              </a:rPr>
              <a:t>THE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971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What Guidewire can unlock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7033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E4E8F0"/>
                </a:solidFill>
                <a:latin typeface="Inter"/>
              </a:rPr>
              <a:t>Introduction to licensed insurance partners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E4E8F0"/>
                </a:solidFill>
                <a:latin typeface="Inter"/>
              </a:rPr>
              <a:t>Actuarial expertise review of our reserves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E4E8F0"/>
                </a:solidFill>
                <a:latin typeface="Inter"/>
              </a:rPr>
              <a:t>Product mentorship for the pilot launch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1">
                <a:solidFill>
                  <a:srgbClr val="F26522"/>
                </a:solidFill>
                <a:latin typeface="Inter"/>
              </a:rPr>
              <a:t>◆ </a:t>
            </a:r>
            <a:r>
              <a:rPr sz="1100">
                <a:solidFill>
                  <a:srgbClr val="E4E8F0"/>
                </a:solidFill>
                <a:latin typeface="Inter"/>
              </a:rPr>
              <a:t>Angel investment consideration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Inter"/>
              </a:rPr>
              <a:t>We built all of this in 45 days.    Imagine what we ship in 12 months.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45920" cy="36576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548640"/>
            <a:ext cx="3200400" cy="256032"/>
          </a:xfrm>
          <a:prstGeom prst="roundRect">
            <a:avLst>
              <a:gd name="adj" fmla="val 50000"/>
            </a:avLst>
          </a:prstGeom>
          <a:solidFill>
            <a:srgbClr val="5E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58064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8139"/>
                </a:solidFill>
                <a:latin typeface="Inter"/>
              </a:rPr>
              <a:t>GUIDEWIRE DEVTRAILS 2026 · PHASE 3 FINAL</a:t>
            </a:r>
          </a:p>
        </p:txBody>
      </p:sp>
      <p:pic>
        <p:nvPicPr>
          <p:cNvPr id="6" name="Picture 5" descr="gigshield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149" y="1005840"/>
            <a:ext cx="1329397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Inter"/>
              </a:rPr>
              <a:t>Thank </a:t>
            </a:r>
            <a:r>
              <a:rPr sz="6400" b="1" i="0">
                <a:solidFill>
                  <a:srgbClr val="F26522"/>
                </a:solidFill>
                <a:latin typeface="Inter"/>
              </a:rPr>
              <a:t>you</a:t>
            </a:r>
            <a:r>
              <a:rPr sz="6400" b="1" i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D0D8E8"/>
                </a:solidFill>
                <a:latin typeface="Inter"/>
              </a:rPr>
              <a:t>Protecting India's gig workers, one disruption at a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587" y="4572000"/>
            <a:ext cx="2651760" cy="1188720"/>
          </a:xfrm>
          <a:prstGeom prst="rect">
            <a:avLst/>
          </a:prstGeom>
          <a:solidFill>
            <a:srgbClr val="1A4478"/>
          </a:solidFill>
          <a:ln w="6350">
            <a:solidFill>
              <a:srgbClr val="35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LIVE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5074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gigshield.in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5507" y="4572000"/>
            <a:ext cx="2651760" cy="1188720"/>
          </a:xfrm>
          <a:prstGeom prst="rect">
            <a:avLst/>
          </a:prstGeom>
          <a:solidFill>
            <a:srgbClr val="1A4478"/>
          </a:solidFill>
          <a:ln w="6350">
            <a:solidFill>
              <a:srgbClr val="35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4107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DEMO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4107" y="5074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youtu.be/bx8AVAU_amk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4427" y="4572000"/>
            <a:ext cx="2651760" cy="1188720"/>
          </a:xfrm>
          <a:prstGeom prst="rect">
            <a:avLst/>
          </a:prstGeom>
          <a:solidFill>
            <a:srgbClr val="1A4478"/>
          </a:solidFill>
          <a:ln w="6350">
            <a:solidFill>
              <a:srgbClr val="35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SOURCE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5074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github.com/uroy80/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TeamVoid-Guidewire-Devtrails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3347" y="4572000"/>
            <a:ext cx="2651760" cy="1188720"/>
          </a:xfrm>
          <a:prstGeom prst="rect">
            <a:avLst/>
          </a:prstGeom>
          <a:solidFill>
            <a:srgbClr val="1A4478"/>
          </a:solidFill>
          <a:ln w="6350">
            <a:solidFill>
              <a:srgbClr val="35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1947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6522"/>
                </a:solidFill>
                <a:latin typeface="Inter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1947" y="5074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Team Void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A0C0"/>
                </a:solidFill>
                <a:latin typeface="Inter"/>
              </a:rPr>
              <a:t>18 April 2026   ·   Submitted for Guidewire DEVTrails Phase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